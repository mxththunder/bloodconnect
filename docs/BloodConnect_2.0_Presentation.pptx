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9f49c76-ff43-7320-4ce5-70d7bc17097c}">
          <p14:sldIdLst>
            <p14:sldId id="256"/>
            <p14:sldId id="257"/>
          </p14:sldIdLst>
        </p14:section>
        <p14:section name="Design Thinking" id="{1ca36f7c-79e0-019d-91e8-f51a62c3223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olution" id="{1b868636-3e50-e349-faa5-864f6fac1f74}">
          <p14:sldIdLst>
            <p14:sldId id="264"/>
            <p14:sldId id="265"/>
            <p14:sldId id="266"/>
            <p14:sldId id="267"/>
          </p14:sldIdLst>
        </p14:section>
        <p14:section name="Prototype and Results" id="{53b0f97f-d2b6-326f-a3d9-3523a0964926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21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A1215"/>
                </a:solidFill>
                <a:latin typeface="+mn-lt"/>
              </a:rPr>
              <a:t>Candidate score weights (out of 100)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3172F"/>
              </a:solidFill>
              <a:effectLst/>
            </c:spPr>
          </c:dPt>
          <c:dPt>
            <c:idx val="1"/>
            <c:bubble3D val="0"/>
            <c:spPr>
              <a:solidFill>
                <a:srgbClr val="D9566B"/>
              </a:solidFill>
              <a:effectLst/>
            </c:spPr>
          </c:dPt>
          <c:dPt>
            <c:idx val="2"/>
            <c:bubble3D val="0"/>
            <c:spPr>
              <a:solidFill>
                <a:srgbClr val="1F2D4F"/>
              </a:solidFill>
              <a:effectLst/>
            </c:spPr>
          </c:dPt>
          <c:dPt>
            <c:idx val="3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Proximity</c:v>
                </c:pt>
                <c:pt idx="1">
                  <c:v>Blood-group match</c:v>
                </c:pt>
                <c:pt idx="2">
                  <c:v>Verified profile</c:v>
                </c:pt>
                <c:pt idx="3">
                  <c:v>Availability freshness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141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21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A1215"/>
                </a:solidFill>
                <a:latin typeface="+mn-lt"/>
              </a:rPr>
              <a:t>Donors contacted (mean of 5 runs)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Broadcast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High</c:v>
                  </c:pt>
                  <c:pt idx="1">
                    <c:v>Partial</c:v>
                  </c:pt>
                  <c:pt idx="2">
                    <c:v>No resp. (area)</c:v>
                  </c:pt>
                  <c:pt idx="3">
                    <c:v>Low</c:v>
                  </c:pt>
                  <c:pt idx="4">
                    <c:v>Cancelled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41.6</c:v>
                </c:pt>
                <c:pt idx="1">
                  <c:v>41.2</c:v>
                </c:pt>
                <c:pt idx="2">
                  <c:v>42.8</c:v>
                </c:pt>
                <c:pt idx="3">
                  <c:v>37.6</c:v>
                </c:pt>
                <c:pt idx="4">
                  <c:v>40.2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Fixed</c:v>
                </c:pt>
              </c:strCache>
            </c:strRef>
          </c:tx>
          <c:spPr>
            <a:solidFill>
              <a:srgbClr val="1F2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High</c:v>
                  </c:pt>
                  <c:pt idx="1">
                    <c:v>Partial</c:v>
                  </c:pt>
                  <c:pt idx="2">
                    <c:v>No resp. (area)</c:v>
                  </c:pt>
                  <c:pt idx="3">
                    <c:v>Low</c:v>
                  </c:pt>
                  <c:pt idx="4">
                    <c:v>Cancelled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15.8</c:v>
                </c:pt>
                <c:pt idx="1">
                  <c:v>24.4</c:v>
                </c:pt>
                <c:pt idx="2">
                  <c:v>32.2</c:v>
                </c:pt>
                <c:pt idx="3">
                  <c:v>35.8</c:v>
                </c:pt>
                <c:pt idx="4">
                  <c:v>10.2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Adaptive</c:v>
                </c:pt>
              </c:strCache>
            </c:strRef>
          </c:tx>
          <c:spPr>
            <a:solidFill>
              <a:srgbClr val="A317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High</c:v>
                  </c:pt>
                  <c:pt idx="1">
                    <c:v>Partial</c:v>
                  </c:pt>
                  <c:pt idx="2">
                    <c:v>No resp. (area)</c:v>
                  </c:pt>
                  <c:pt idx="3">
                    <c:v>Low</c:v>
                  </c:pt>
                  <c:pt idx="4">
                    <c:v>Cancelled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10.4</c:v>
                </c:pt>
                <c:pt idx="1">
                  <c:v>22.2</c:v>
                </c:pt>
                <c:pt idx="2">
                  <c:v>31.2</c:v>
                </c:pt>
                <c:pt idx="3">
                  <c:v>35.4</c:v>
                </c:pt>
                <c:pt idx="4">
                  <c:v>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5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141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21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A1215"/>
                </a:solidFill>
                <a:latin typeface="+mn-lt"/>
              </a:rPr>
              <a:t>Minutes to reach volunteer target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Broadcast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</c:v>
                  </c:pt>
                  <c:pt idx="1">
                    <c:v>Partial</c:v>
                  </c:pt>
                  <c:pt idx="2">
                    <c:v>No resp. (area)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3.6</c:v>
                </c:pt>
                <c:pt idx="1">
                  <c:v>10.8</c:v>
                </c:pt>
                <c:pt idx="2">
                  <c:v>6.2</c:v>
                </c:pt>
                <c:pt idx="3">
                  <c:v>18.7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Fixed</c:v>
                </c:pt>
              </c:strCache>
            </c:strRef>
          </c:tx>
          <c:spPr>
            <a:solidFill>
              <a:srgbClr val="1F2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</c:v>
                  </c:pt>
                  <c:pt idx="1">
                    <c:v>Partial</c:v>
                  </c:pt>
                  <c:pt idx="2">
                    <c:v>No resp. (area)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9.2</c:v>
                </c:pt>
                <c:pt idx="1">
                  <c:v>18.2</c:v>
                </c:pt>
                <c:pt idx="2">
                  <c:v>24.4</c:v>
                </c:pt>
                <c:pt idx="3">
                  <c:v>34.3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Adaptive</c:v>
                </c:pt>
              </c:strCache>
            </c:strRef>
          </c:tx>
          <c:spPr>
            <a:solidFill>
              <a:srgbClr val="A317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</c:v>
                  </c:pt>
                  <c:pt idx="1">
                    <c:v>Partial</c:v>
                  </c:pt>
                  <c:pt idx="2">
                    <c:v>No resp. (area)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</c:v>
                </c:pt>
                <c:pt idx="1">
                  <c:v>21</c:v>
                </c:pt>
                <c:pt idx="2">
                  <c:v>27.2</c:v>
                </c:pt>
                <c:pt idx="3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5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141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kc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56032"/>
            <a:ext cx="1188720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BloodConnect 2.0  ·  23OED971 Introduction to Design Thinking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CG logo" descr="/home/claude/deck/img/kc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46304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23OED971  ·  INTRODUCTION TO DESIGN THINKING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83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BloodConnect 2.0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challenges in finding blood donors: an adaptive emergency blood-donor coordination system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86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Freddy Matthew 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886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Boopathi P 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Lead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3886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Harisankaran J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Lead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663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Balakumaran 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956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Lead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4663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Abilash Alexander 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956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Lead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4663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Bennet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956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Lead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6235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Ravi Karthik R     </a:t>
            </a:r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CSE, III Year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9436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KCG College of Technology, Karapakkam (Autonomous)</a:t>
            </a:r>
            <a:endParaRPr lang="en-US" sz="1300" dirty="0"/>
          </a:p>
        </p:txBody>
      </p:sp>
      <p:sp>
        <p:nvSpPr>
          <p:cNvPr id="20" name="Landing page screenshot frame"/>
          <p:cNvSpPr/>
          <p:nvPr/>
        </p:nvSpPr>
        <p:spPr>
          <a:xfrm>
            <a:off x="6903720" y="1417320"/>
            <a:ext cx="4754880" cy="2752344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Landing page screenshot" descr="/home/claude/deck/img/landing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1472184"/>
            <a:ext cx="4645152" cy="264261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0372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matters. Every connection counts.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Urgent emergencies, scattered information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suitable blood donors in an emergency is difficult because information is fragmented, rare blood groups are scarce and coordination is slow. Once a request goes out, nobody follows up on who has actually agreed.</a:t>
            </a:r>
            <a:endParaRPr lang="en-US" sz="1600" dirty="0"/>
          </a:p>
        </p:txBody>
      </p:sp>
      <p:sp>
        <p:nvSpPr>
          <p:cNvPr id="4" name="Slow donor search icon circle"/>
          <p:cNvSpPr/>
          <p:nvPr/>
        </p:nvSpPr>
        <p:spPr>
          <a:xfrm>
            <a:off x="548640" y="2240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low donor search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3938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22199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donor search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56946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check the blood bank, then phone known donors one by one.</a:t>
            </a:r>
            <a:endParaRPr lang="en-US" sz="1400" dirty="0"/>
          </a:p>
        </p:txBody>
      </p:sp>
      <p:sp>
        <p:nvSpPr>
          <p:cNvPr id="8" name="Rare groups are hard to find icon circle"/>
          <p:cNvSpPr/>
          <p:nvPr/>
        </p:nvSpPr>
        <p:spPr>
          <a:xfrm>
            <a:off x="548640" y="322783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Rare groups are hard to fin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3381451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32095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groups are hard to find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5570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such as AB-negative are difficult to keep in stock.</a:t>
            </a:r>
            <a:endParaRPr lang="en-US" sz="1400" dirty="0"/>
          </a:p>
        </p:txBody>
      </p:sp>
      <p:sp>
        <p:nvSpPr>
          <p:cNvPr id="12" name="Scattered information icon circle"/>
          <p:cNvSpPr/>
          <p:nvPr/>
        </p:nvSpPr>
        <p:spPr>
          <a:xfrm>
            <a:off x="548640" y="421538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Scattered informa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369003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1970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5445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details sit in social-media groups and personal contacts.</a:t>
            </a:r>
            <a:endParaRPr lang="en-US" sz="1400" dirty="0"/>
          </a:p>
        </p:txBody>
      </p:sp>
      <p:sp>
        <p:nvSpPr>
          <p:cNvPr id="16" name="No follow-up icon circle"/>
          <p:cNvSpPr/>
          <p:nvPr/>
        </p:nvSpPr>
        <p:spPr>
          <a:xfrm>
            <a:off x="548640" y="520293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No follow-up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5356555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518464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5532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broadcast once; nobody tracks who responded.</a:t>
            </a:r>
            <a:endParaRPr lang="en-US" sz="1400" dirty="0"/>
          </a:p>
        </p:txBody>
      </p:sp>
      <p:sp>
        <p:nvSpPr>
          <p:cNvPr id="20" name="Hospital staff under pressure frame"/>
          <p:cNvSpPr/>
          <p:nvPr/>
        </p:nvSpPr>
        <p:spPr>
          <a:xfrm>
            <a:off x="7726680" y="118872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Hospital staff under pressure" descr="/home/claude/deck/img/str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1243584"/>
            <a:ext cx="3822192" cy="3822192"/>
          </a:xfrm>
          <a:prstGeom prst="rect">
            <a:avLst/>
          </a:prstGeom>
        </p:spPr>
      </p:pic>
      <p:sp>
        <p:nvSpPr>
          <p:cNvPr id="22" name="HMW card"/>
          <p:cNvSpPr/>
          <p:nvPr/>
        </p:nvSpPr>
        <p:spPr>
          <a:xfrm>
            <a:off x="7726680" y="5303520"/>
            <a:ext cx="39319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909560" y="5394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help hospitals find compatible blood donors quickly during emergencies?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Empathize: we interviewed three doctors</a:t>
            </a:r>
            <a:endParaRPr lang="en-US" sz="3000" dirty="0"/>
          </a:p>
        </p:txBody>
      </p:sp>
      <p:sp>
        <p:nvSpPr>
          <p:cNvPr id="3" name="Interview photos frame"/>
          <p:cNvSpPr/>
          <p:nvPr/>
        </p:nvSpPr>
        <p:spPr>
          <a:xfrm>
            <a:off x="548640" y="1188720"/>
            <a:ext cx="694944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nterview photos" descr="/home/claude/deck/img/interview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243584"/>
            <a:ext cx="6839712" cy="3438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377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open-ended questions, using the Five Whys to dig deeper. All interviews were video-recorded.</a:t>
            </a:r>
            <a:endParaRPr lang="en-US" sz="1400" dirty="0"/>
          </a:p>
        </p:txBody>
      </p:sp>
      <p:sp>
        <p:nvSpPr>
          <p:cNvPr id="6" name="interviewee card 1"/>
          <p:cNvSpPr/>
          <p:nvPr/>
        </p:nvSpPr>
        <p:spPr>
          <a:xfrm>
            <a:off x="7863840" y="1188720"/>
            <a:ext cx="379476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octor icon circle"/>
          <p:cNvSpPr/>
          <p:nvPr/>
        </p:nvSpPr>
        <p:spPr>
          <a:xfrm>
            <a:off x="8001000" y="131673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docto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674" y="1448410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2984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Chanthru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1572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Interviewed by Abilash Alexander</a:t>
            </a:r>
            <a:endParaRPr lang="en-US" sz="1100" dirty="0"/>
          </a:p>
        </p:txBody>
      </p:sp>
      <p:sp>
        <p:nvSpPr>
          <p:cNvPr id="11" name="interviewee card 2"/>
          <p:cNvSpPr/>
          <p:nvPr/>
        </p:nvSpPr>
        <p:spPr>
          <a:xfrm>
            <a:off x="7863840" y="2148840"/>
            <a:ext cx="379476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octor icon circle"/>
          <p:cNvSpPr/>
          <p:nvPr/>
        </p:nvSpPr>
        <p:spPr>
          <a:xfrm>
            <a:off x="8001000" y="22768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docto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674" y="2408530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686800" y="22585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Bruno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686800" y="25328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Interviewed by Balakumaran E</a:t>
            </a:r>
            <a:endParaRPr lang="en-US" sz="1100" dirty="0"/>
          </a:p>
        </p:txBody>
      </p:sp>
      <p:sp>
        <p:nvSpPr>
          <p:cNvPr id="16" name="interviewee card 3"/>
          <p:cNvSpPr/>
          <p:nvPr/>
        </p:nvSpPr>
        <p:spPr>
          <a:xfrm>
            <a:off x="7863840" y="3108960"/>
            <a:ext cx="379476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doctor icon circle"/>
          <p:cNvSpPr/>
          <p:nvPr/>
        </p:nvSpPr>
        <p:spPr>
          <a:xfrm>
            <a:off x="8001000" y="323697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docto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674" y="3368650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86800" y="32186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Selvam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0" y="34930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Interviewed by Boopathi P R, Freddy Matthew R and Joshua Bennet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7863840" y="4114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863840" y="448056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biggest challenge in arranging blood for patients?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blood group is the hardest to keep in stock?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mobile app help find blood donors faster?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doctors told us</a:t>
            </a:r>
            <a:endParaRPr lang="en-US" sz="3000" dirty="0"/>
          </a:p>
        </p:txBody>
      </p:sp>
      <p:sp>
        <p:nvSpPr>
          <p:cNvPr id="3" name="insight card 1"/>
          <p:cNvSpPr/>
          <p:nvPr/>
        </p:nvSpPr>
        <p:spPr>
          <a:xfrm>
            <a:off x="548640" y="12344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sight icon circle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nsigh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65140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81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groups run short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required group quickly is hardest in emergencies and for rare groups such as AB-negative.</a:t>
            </a:r>
            <a:endParaRPr lang="en-US" sz="1500" dirty="0"/>
          </a:p>
        </p:txBody>
      </p:sp>
      <p:sp>
        <p:nvSpPr>
          <p:cNvPr id="8" name="insight card 2"/>
          <p:cNvSpPr/>
          <p:nvPr/>
        </p:nvSpPr>
        <p:spPr>
          <a:xfrm>
            <a:off x="4297680" y="12344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nsight icon circle"/>
          <p:cNvSpPr/>
          <p:nvPr/>
        </p:nvSpPr>
        <p:spPr>
          <a:xfrm>
            <a:off x="4572000" y="15087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nsigh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65140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581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system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331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depend on social media and personal contacts to reach donors.</a:t>
            </a:r>
            <a:endParaRPr lang="en-US" sz="1500" dirty="0"/>
          </a:p>
        </p:txBody>
      </p:sp>
      <p:sp>
        <p:nvSpPr>
          <p:cNvPr id="13" name="insight card 3"/>
          <p:cNvSpPr/>
          <p:nvPr/>
        </p:nvSpPr>
        <p:spPr>
          <a:xfrm>
            <a:off x="8046720" y="12344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nsight icon circle"/>
          <p:cNvSpPr/>
          <p:nvPr/>
        </p:nvSpPr>
        <p:spPr>
          <a:xfrm>
            <a:off x="8321040" y="15087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nsigh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165140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581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when stock is out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331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group is unavailable, contacting donors takes time the patient may not have.</a:t>
            </a:r>
            <a:endParaRPr lang="en-US" sz="1500" dirty="0"/>
          </a:p>
        </p:txBody>
      </p:sp>
      <p:sp>
        <p:nvSpPr>
          <p:cNvPr id="18" name="insight card 4"/>
          <p:cNvSpPr/>
          <p:nvPr/>
        </p:nvSpPr>
        <p:spPr>
          <a:xfrm>
            <a:off x="548640" y="3749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nsight icon circle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nsigh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16600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096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gap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Fear, misconceptions and lack of awareness stop people from donating.</a:t>
            </a:r>
            <a:endParaRPr lang="en-US" sz="1500" dirty="0"/>
          </a:p>
        </p:txBody>
      </p:sp>
      <p:sp>
        <p:nvSpPr>
          <p:cNvPr id="23" name="insight card 5"/>
          <p:cNvSpPr/>
          <p:nvPr/>
        </p:nvSpPr>
        <p:spPr>
          <a:xfrm>
            <a:off x="4297680" y="3749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nsight icon circle"/>
          <p:cNvSpPr/>
          <p:nvPr/>
        </p:nvSpPr>
        <p:spPr>
          <a:xfrm>
            <a:off x="4572000" y="4023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nsigh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16600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096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comes first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fitness is checked and every unit is screened before transfusion.</a:t>
            </a:r>
            <a:endParaRPr lang="en-US" sz="1500" dirty="0"/>
          </a:p>
        </p:txBody>
      </p:sp>
      <p:sp>
        <p:nvSpPr>
          <p:cNvPr id="28" name="insight card 6"/>
          <p:cNvSpPr/>
          <p:nvPr/>
        </p:nvSpPr>
        <p:spPr>
          <a:xfrm>
            <a:off x="8046720" y="3749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nsight icon circle"/>
          <p:cNvSpPr/>
          <p:nvPr/>
        </p:nvSpPr>
        <p:spPr>
          <a:xfrm>
            <a:off x="8321040" y="4023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nsigh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86" y="4166006"/>
            <a:ext cx="309067" cy="30906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4096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can help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 donor connection system and accessible camps can improve availability.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Experiencing it first-hand: blood donation camp</a:t>
            </a:r>
            <a:endParaRPr lang="en-US" sz="3000" dirty="0"/>
          </a:p>
        </p:txBody>
      </p:sp>
      <p:sp>
        <p:nvSpPr>
          <p:cNvPr id="3" name="Team member donating blood frame"/>
          <p:cNvSpPr/>
          <p:nvPr/>
        </p:nvSpPr>
        <p:spPr>
          <a:xfrm>
            <a:off x="548640" y="1188720"/>
            <a:ext cx="2788920" cy="495604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Team member donating blood" descr="/home/claude/deck/img/donat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243584"/>
            <a:ext cx="2679192" cy="4846320"/>
          </a:xfrm>
          <a:prstGeom prst="rect">
            <a:avLst/>
          </a:prstGeom>
        </p:spPr>
      </p:pic>
      <p:sp>
        <p:nvSpPr>
          <p:cNvPr id="5" name="Students at the donation camp frame"/>
          <p:cNvSpPr/>
          <p:nvPr/>
        </p:nvSpPr>
        <p:spPr>
          <a:xfrm>
            <a:off x="3520440" y="1188720"/>
            <a:ext cx="2788920" cy="495604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Students at the donation camp" descr="/home/claude/deck/img/donate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243584"/>
            <a:ext cx="2679192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720840" y="1188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took part in a voluntary blood donation camp held at KCG College of Technology, to see the donor side of the problem for ourselves.</a:t>
            </a:r>
            <a:endParaRPr lang="en-US" sz="1600" dirty="0"/>
          </a:p>
        </p:txBody>
      </p:sp>
      <p:sp>
        <p:nvSpPr>
          <p:cNvPr id="8" name="Willing donors exist icon circle"/>
          <p:cNvSpPr/>
          <p:nvPr/>
        </p:nvSpPr>
        <p:spPr>
          <a:xfrm>
            <a:off x="6720840" y="2468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Willing donors exis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486" y="2611526"/>
            <a:ext cx="309067" cy="30906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498080" y="24505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donors exist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7498080" y="277977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turned up when the camp came to the college, as the doctors suggested.</a:t>
            </a:r>
            <a:endParaRPr lang="en-US" sz="1300" dirty="0"/>
          </a:p>
        </p:txBody>
      </p:sp>
      <p:sp>
        <p:nvSpPr>
          <p:cNvPr id="12" name="Every unit is tracked icon circle"/>
          <p:cNvSpPr/>
          <p:nvPr/>
        </p:nvSpPr>
        <p:spPr>
          <a:xfrm>
            <a:off x="6720840" y="34290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Every unit is track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86" y="3571646"/>
            <a:ext cx="309067" cy="309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498080" y="34107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is tracked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7498080" y="373989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bag is labelled and recorded before it goes for screening.</a:t>
            </a:r>
            <a:endParaRPr lang="en-US" sz="1300" dirty="0"/>
          </a:p>
        </p:txBody>
      </p:sp>
      <p:sp>
        <p:nvSpPr>
          <p:cNvPr id="16" name="Donor care matters icon circle"/>
          <p:cNvSpPr/>
          <p:nvPr/>
        </p:nvSpPr>
        <p:spPr>
          <a:xfrm>
            <a:off x="6720840" y="43891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Donor care matter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486" y="4531766"/>
            <a:ext cx="309067" cy="30906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98080" y="43708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care matters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7498080" y="470001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rest and are looked after before and after giving blood.</a:t>
            </a:r>
            <a:endParaRPr lang="en-US" sz="1300" dirty="0"/>
          </a:p>
        </p:txBody>
      </p:sp>
      <p:sp>
        <p:nvSpPr>
          <p:cNvPr id="20" name="camp takeaway"/>
          <p:cNvSpPr/>
          <p:nvPr/>
        </p:nvSpPr>
        <p:spPr>
          <a:xfrm>
            <a:off x="6720840" y="5394960"/>
            <a:ext cx="4937760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903720" y="53949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donors are there. The real challenge is reaching the right one at the right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Empathy map: Stanford d.school format</a:t>
            </a:r>
            <a:endParaRPr lang="en-US" sz="3000" dirty="0"/>
          </a:p>
        </p:txBody>
      </p:sp>
      <p:sp>
        <p:nvSpPr>
          <p:cNvPr id="3" name="Empathy map frame"/>
          <p:cNvSpPr/>
          <p:nvPr/>
        </p:nvSpPr>
        <p:spPr>
          <a:xfrm>
            <a:off x="548640" y="1143000"/>
            <a:ext cx="699516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Empathy map" descr="/home/claude/deck/img/f22_empathy_d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97864"/>
            <a:ext cx="6885432" cy="5056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095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stood out</a:t>
            </a:r>
            <a:endParaRPr lang="en-US" sz="1800" dirty="0"/>
          </a:p>
        </p:txBody>
      </p:sp>
      <p:sp>
        <p:nvSpPr>
          <p:cNvPr id="6" name="takeaway Need"/>
          <p:cNvSpPr/>
          <p:nvPr/>
        </p:nvSpPr>
        <p:spPr>
          <a:xfrm>
            <a:off x="7909560" y="1691640"/>
            <a:ext cx="3749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1801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0756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group quickly, without relying on personal contacts.</a:t>
            </a:r>
            <a:endParaRPr lang="en-US" sz="1400" dirty="0"/>
          </a:p>
        </p:txBody>
      </p:sp>
      <p:sp>
        <p:nvSpPr>
          <p:cNvPr id="9" name="takeaway Behaviour"/>
          <p:cNvSpPr/>
          <p:nvPr/>
        </p:nvSpPr>
        <p:spPr>
          <a:xfrm>
            <a:off x="7909560" y="2834640"/>
            <a:ext cx="3749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2944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32186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blood bank first, then call known donors.</a:t>
            </a:r>
            <a:endParaRPr lang="en-US" sz="1400" dirty="0"/>
          </a:p>
        </p:txBody>
      </p:sp>
      <p:sp>
        <p:nvSpPr>
          <p:cNvPr id="12" name="takeaway Feeling"/>
          <p:cNvSpPr/>
          <p:nvPr/>
        </p:nvSpPr>
        <p:spPr>
          <a:xfrm>
            <a:off x="7909560" y="3977640"/>
            <a:ext cx="3749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4087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3616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and frustration when a rare group is unavailable.</a:t>
            </a:r>
            <a:endParaRPr lang="en-US" sz="1400" dirty="0"/>
          </a:p>
        </p:txBody>
      </p:sp>
      <p:sp>
        <p:nvSpPr>
          <p:cNvPr id="15" name="takeaway Aspiration"/>
          <p:cNvSpPr/>
          <p:nvPr/>
        </p:nvSpPr>
        <p:spPr>
          <a:xfrm>
            <a:off x="7909560" y="5120640"/>
            <a:ext cx="3749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92440" y="5230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55046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gets safe, compatible blood on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Define: How Might We?</a:t>
            </a:r>
            <a:endParaRPr lang="en-US" sz="3000" dirty="0"/>
          </a:p>
        </p:txBody>
      </p:sp>
      <p:sp>
        <p:nvSpPr>
          <p:cNvPr id="3" name="HMW 1"/>
          <p:cNvSpPr/>
          <p:nvPr/>
        </p:nvSpPr>
        <p:spPr>
          <a:xfrm>
            <a:off x="548640" y="12344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hospitals find compatible blood donors quickly during emergencies?</a:t>
            </a:r>
            <a:endParaRPr lang="en-US" sz="1400" dirty="0"/>
          </a:p>
        </p:txBody>
      </p:sp>
      <p:sp>
        <p:nvSpPr>
          <p:cNvPr id="6" name="HMW 2"/>
          <p:cNvSpPr/>
          <p:nvPr/>
        </p:nvSpPr>
        <p:spPr>
          <a:xfrm>
            <a:off x="4297680" y="12344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nearby eligible blood donors with patients who urgently need blood?</a:t>
            </a:r>
            <a:endParaRPr lang="en-US" sz="1400" dirty="0"/>
          </a:p>
        </p:txBody>
      </p:sp>
      <p:sp>
        <p:nvSpPr>
          <p:cNvPr id="9" name="HMW 3"/>
          <p:cNvSpPr/>
          <p:nvPr/>
        </p:nvSpPr>
        <p:spPr>
          <a:xfrm>
            <a:off x="8046720" y="12344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more people to become regular blood donors and improve blood availability?</a:t>
            </a:r>
            <a:endParaRPr lang="en-US" sz="1400" dirty="0"/>
          </a:p>
        </p:txBody>
      </p:sp>
      <p:sp>
        <p:nvSpPr>
          <p:cNvPr id="12" name="problem statement"/>
          <p:cNvSpPr/>
          <p:nvPr/>
        </p:nvSpPr>
        <p:spPr>
          <a:xfrm>
            <a:off x="548640" y="3291840"/>
            <a:ext cx="1110996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pPr indent="0" marL="0">
              <a:buNone/>
            </a:pPr>
            <a:r>
              <a:rPr lang="en-US" sz="17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make sure enough nearby eligible donors respond to an emergency blood request in time, without alerting every donor at once and while keeping every decision explainable?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needs we designed for</a:t>
            </a:r>
            <a:endParaRPr lang="en-US" sz="1600" dirty="0"/>
          </a:p>
        </p:txBody>
      </p:sp>
      <p:sp>
        <p:nvSpPr>
          <p:cNvPr id="15" name="need icon circle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ne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252314"/>
            <a:ext cx="285293" cy="28529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34440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centralised donor system</a:t>
            </a:r>
            <a:endParaRPr lang="en-US" sz="1400" dirty="0"/>
          </a:p>
        </p:txBody>
      </p:sp>
      <p:sp>
        <p:nvSpPr>
          <p:cNvPr id="18" name="need icon circle"/>
          <p:cNvSpPr/>
          <p:nvPr/>
        </p:nvSpPr>
        <p:spPr>
          <a:xfrm>
            <a:off x="3337560" y="5120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ne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234" y="5252314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023360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matching of nearby donors</a:t>
            </a:r>
            <a:endParaRPr lang="en-US" sz="1400" dirty="0"/>
          </a:p>
        </p:txBody>
      </p:sp>
      <p:sp>
        <p:nvSpPr>
          <p:cNvPr id="21" name="need icon circle"/>
          <p:cNvSpPr/>
          <p:nvPr/>
        </p:nvSpPr>
        <p:spPr>
          <a:xfrm>
            <a:off x="6126480" y="5120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nee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154" y="5252314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812280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requests only</a:t>
            </a:r>
            <a:endParaRPr lang="en-US" sz="1400" dirty="0"/>
          </a:p>
        </p:txBody>
      </p:sp>
      <p:sp>
        <p:nvSpPr>
          <p:cNvPr id="24" name="need icon circle"/>
          <p:cNvSpPr/>
          <p:nvPr/>
        </p:nvSpPr>
        <p:spPr>
          <a:xfrm>
            <a:off x="8915400" y="5120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074" y="525231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601200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of who has agreed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Ideate: from 40 ideas to 3 concepts</a:t>
            </a:r>
            <a:endParaRPr lang="en-US" sz="3000" dirty="0"/>
          </a:p>
        </p:txBody>
      </p:sp>
      <p:sp>
        <p:nvSpPr>
          <p:cNvPr id="3" name="Brainstorming chart frame"/>
          <p:cNvSpPr/>
          <p:nvPr/>
        </p:nvSpPr>
        <p:spPr>
          <a:xfrm>
            <a:off x="548640" y="1188720"/>
            <a:ext cx="6949440" cy="4818888"/>
          </a:xfrm>
          <a:prstGeom prst="roundRect">
            <a:avLst>
              <a:gd name="adj" fmla="val 1518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Brainstorming chart" descr="/home/claude/deck/img/brain_r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243584"/>
            <a:ext cx="6839712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863840" y="1143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ideas in divergent thinking</a:t>
            </a:r>
            <a:endParaRPr lang="en-US" sz="4400" dirty="0"/>
          </a:p>
        </p:txBody>
      </p:sp>
      <p:sp>
        <p:nvSpPr>
          <p:cNvPr id="6" name="concept 1"/>
          <p:cNvSpPr/>
          <p:nvPr/>
        </p:nvSpPr>
        <p:spPr>
          <a:xfrm>
            <a:off x="7863840" y="2011680"/>
            <a:ext cx="3794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2148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Emergency Donor Matching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26151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requests with nearby eligible donors by group, location and availability.</a:t>
            </a:r>
            <a:endParaRPr lang="en-US" sz="1200" dirty="0"/>
          </a:p>
        </p:txBody>
      </p:sp>
      <p:sp>
        <p:nvSpPr>
          <p:cNvPr id="10" name="concept 2"/>
          <p:cNvSpPr/>
          <p:nvPr/>
        </p:nvSpPr>
        <p:spPr>
          <a:xfrm>
            <a:off x="7863840" y="3383280"/>
            <a:ext cx="3794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3520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Blood Bank Stock Monitoring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39867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banks update units; alerts when a group runs low.</a:t>
            </a:r>
            <a:endParaRPr lang="en-US" sz="1200" dirty="0"/>
          </a:p>
        </p:txBody>
      </p:sp>
      <p:sp>
        <p:nvSpPr>
          <p:cNvPr id="14" name="concept 3"/>
          <p:cNvSpPr/>
          <p:nvPr/>
        </p:nvSpPr>
        <p:spPr>
          <a:xfrm>
            <a:off x="7863840" y="4754880"/>
            <a:ext cx="3794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4892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4892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Emergency Blood Alert Network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458200" y="53583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hospital verifies a request, nearby donors are alerted.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Existing models solve only fragments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BLOODCONNECT 2.0 ANSWERS IT</a:t>
            </a:r>
            <a:endParaRPr lang="en-US" sz="1200" dirty="0"/>
          </a:p>
        </p:txBody>
      </p:sp>
      <p:sp>
        <p:nvSpPr>
          <p:cNvPr id="6" name="row 1"/>
          <p:cNvSpPr/>
          <p:nvPr/>
        </p:nvSpPr>
        <p:spPr>
          <a:xfrm>
            <a:off x="548640" y="1600200"/>
            <a:ext cx="11109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model icon circle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600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blood banks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visibility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1600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and low-stock alerts in one dashboard</a:t>
            </a:r>
            <a:endParaRPr lang="en-US" sz="1400" dirty="0"/>
          </a:p>
        </p:txBody>
      </p:sp>
      <p:sp>
        <p:nvSpPr>
          <p:cNvPr id="12" name="row 2"/>
          <p:cNvSpPr/>
          <p:nvPr/>
        </p:nvSpPr>
        <p:spPr>
          <a:xfrm>
            <a:off x="548640" y="2624328"/>
            <a:ext cx="111099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model icon circle"/>
          <p:cNvSpPr/>
          <p:nvPr/>
        </p:nvSpPr>
        <p:spPr>
          <a:xfrm>
            <a:off x="731520" y="280720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mode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4" y="2938882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2624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Telephone-based search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62432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slow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26243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donors alerted in batches automatically</a:t>
            </a:r>
            <a:endParaRPr lang="en-US" sz="1400" dirty="0"/>
          </a:p>
        </p:txBody>
      </p:sp>
      <p:sp>
        <p:nvSpPr>
          <p:cNvPr id="18" name="row 3"/>
          <p:cNvSpPr/>
          <p:nvPr/>
        </p:nvSpPr>
        <p:spPr>
          <a:xfrm>
            <a:off x="548640" y="3648456"/>
            <a:ext cx="11109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odel icon circle"/>
          <p:cNvSpPr/>
          <p:nvPr/>
        </p:nvSpPr>
        <p:spPr>
          <a:xfrm>
            <a:off x="731520" y="383133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mode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3963010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364845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 groups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0" y="364845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and unverified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7680960" y="364845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Admin-verified requests before any alert</a:t>
            </a:r>
            <a:endParaRPr lang="en-US" sz="1400" dirty="0"/>
          </a:p>
        </p:txBody>
      </p:sp>
      <p:sp>
        <p:nvSpPr>
          <p:cNvPr id="24" name="row 4"/>
          <p:cNvSpPr/>
          <p:nvPr/>
        </p:nvSpPr>
        <p:spPr>
          <a:xfrm>
            <a:off x="548640" y="4672584"/>
            <a:ext cx="111099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model icon circle"/>
          <p:cNvSpPr/>
          <p:nvPr/>
        </p:nvSpPr>
        <p:spPr>
          <a:xfrm>
            <a:off x="731520" y="485546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mode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4987138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17320" y="467258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donor directories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0" y="467258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 of responses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680960" y="46725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tracked; remaining need recalculated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7607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information is scattered, coordination is slow and no one tracks the response. BloodConnect brings discovery, verification, stock visibility and follow-up into one platform.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BloodConnect 2.0: one workspace, three roles</a:t>
            </a:r>
            <a:endParaRPr lang="en-US" sz="3000" dirty="0"/>
          </a:p>
        </p:txBody>
      </p:sp>
      <p:sp>
        <p:nvSpPr>
          <p:cNvPr id="3" name="role Requester"/>
          <p:cNvSpPr/>
          <p:nvPr/>
        </p:nvSpPr>
        <p:spPr>
          <a:xfrm>
            <a:off x="548640" y="1234440"/>
            <a:ext cx="352044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quester icon circle"/>
          <p:cNvSpPr/>
          <p:nvPr/>
        </p:nvSpPr>
        <p:spPr>
          <a:xfrm>
            <a:off x="82296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quest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276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blood group, component, units, hospital and urgency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verification and accepted volunteers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when no longer needed</a:t>
            </a:r>
            <a:endParaRPr lang="en-US" sz="1400" dirty="0"/>
          </a:p>
        </p:txBody>
      </p:sp>
      <p:sp>
        <p:nvSpPr>
          <p:cNvPr id="8" name="role Donor"/>
          <p:cNvSpPr/>
          <p:nvPr/>
        </p:nvSpPr>
        <p:spPr>
          <a:xfrm>
            <a:off x="4297680" y="1234440"/>
            <a:ext cx="352044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nor icon circle"/>
          <p:cNvSpPr/>
          <p:nvPr/>
        </p:nvSpPr>
        <p:spPr>
          <a:xfrm>
            <a:off x="457200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Dono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62763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33172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blood group, locality and availability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in-app emergency alerts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declines each alert</a:t>
            </a:r>
            <a:endParaRPr lang="en-US" sz="1400" dirty="0"/>
          </a:p>
        </p:txBody>
      </p:sp>
      <p:sp>
        <p:nvSpPr>
          <p:cNvPr id="13" name="role Administrator"/>
          <p:cNvSpPr/>
          <p:nvPr/>
        </p:nvSpPr>
        <p:spPr>
          <a:xfrm>
            <a:off x="8046720" y="1234440"/>
            <a:ext cx="352044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dministrator icon circle"/>
          <p:cNvSpPr/>
          <p:nvPr/>
        </p:nvSpPr>
        <p:spPr>
          <a:xfrm>
            <a:off x="832104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dministrato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62763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33172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requests before any alert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Command Center and Simulator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blood-bank stock and audit log</a:t>
            </a:r>
            <a:endParaRPr lang="en-US" sz="1400" dirty="0"/>
          </a:p>
        </p:txBody>
      </p:sp>
      <p:sp>
        <p:nvSpPr>
          <p:cNvPr id="18" name="engine band"/>
          <p:cNvSpPr/>
          <p:nvPr/>
        </p:nvSpPr>
        <p:spPr>
          <a:xfrm>
            <a:off x="548640" y="4434840"/>
            <a:ext cx="1110996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2.0: ADAPTIVE EMERGENCY ESCALATION ENGINE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029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468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best-scored donors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971800" y="5029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2971800" y="5468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first batch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120640" y="5029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5120640" y="5468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decline / no response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269480" y="5029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Recalculate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7269480" y="5468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volunteer need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9418320" y="5029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9418320" y="5468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only when needed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request to response</a:t>
            </a:r>
            <a:endParaRPr lang="en-US" sz="3000" dirty="0"/>
          </a:p>
        </p:txBody>
      </p:sp>
      <p:sp>
        <p:nvSpPr>
          <p:cNvPr id="3" name="Request icon circle"/>
          <p:cNvSpPr/>
          <p:nvPr/>
        </p:nvSpPr>
        <p:spPr>
          <a:xfrm>
            <a:off x="1051560" y="1280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Reque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1466698"/>
            <a:ext cx="404165" cy="404165"/>
          </a:xfrm>
          <a:prstGeom prst="rect">
            <a:avLst/>
          </a:prstGeom>
        </p:spPr>
      </p:pic>
      <p:sp>
        <p:nvSpPr>
          <p:cNvPr id="5" name="arrow"/>
          <p:cNvSpPr/>
          <p:nvPr/>
        </p:nvSpPr>
        <p:spPr>
          <a:xfrm>
            <a:off x="1965960" y="1536192"/>
            <a:ext cx="411480" cy="274320"/>
          </a:xfrm>
          <a:prstGeom prst="rightArrow">
            <a:avLst/>
          </a:prstGeom>
          <a:solidFill>
            <a:srgbClr val="E5D5D9"/>
          </a:solidFill>
          <a:ln w="12700">
            <a:solidFill>
              <a:srgbClr val="E5D5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420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submits group, units, hospital, urgency</a:t>
            </a:r>
            <a:endParaRPr lang="en-US" sz="1200" dirty="0"/>
          </a:p>
        </p:txBody>
      </p:sp>
      <p:sp>
        <p:nvSpPr>
          <p:cNvPr id="8" name="Verify icon circle"/>
          <p:cNvSpPr/>
          <p:nvPr/>
        </p:nvSpPr>
        <p:spPr>
          <a:xfrm>
            <a:off x="2926080" y="1280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Verif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1466698"/>
            <a:ext cx="404165" cy="404165"/>
          </a:xfrm>
          <a:prstGeom prst="rect">
            <a:avLst/>
          </a:prstGeom>
        </p:spPr>
      </p:pic>
      <p:sp>
        <p:nvSpPr>
          <p:cNvPr id="10" name="arrow"/>
          <p:cNvSpPr/>
          <p:nvPr/>
        </p:nvSpPr>
        <p:spPr>
          <a:xfrm>
            <a:off x="3840480" y="1536192"/>
            <a:ext cx="411480" cy="274320"/>
          </a:xfrm>
          <a:prstGeom prst="rightArrow">
            <a:avLst/>
          </a:prstGeom>
          <a:solidFill>
            <a:srgbClr val="E5D5D9"/>
          </a:solidFill>
          <a:ln w="12700">
            <a:solidFill>
              <a:srgbClr val="E5D5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42316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25420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approves the request</a:t>
            </a:r>
            <a:endParaRPr lang="en-US" sz="1200" dirty="0"/>
          </a:p>
        </p:txBody>
      </p:sp>
      <p:sp>
        <p:nvSpPr>
          <p:cNvPr id="13" name="Rank icon circle"/>
          <p:cNvSpPr/>
          <p:nvPr/>
        </p:nvSpPr>
        <p:spPr>
          <a:xfrm>
            <a:off x="4800600" y="1280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Rank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138" y="1466698"/>
            <a:ext cx="404165" cy="404165"/>
          </a:xfrm>
          <a:prstGeom prst="rect">
            <a:avLst/>
          </a:prstGeom>
        </p:spPr>
      </p:pic>
      <p:sp>
        <p:nvSpPr>
          <p:cNvPr id="15" name="arrow"/>
          <p:cNvSpPr/>
          <p:nvPr/>
        </p:nvSpPr>
        <p:spPr>
          <a:xfrm>
            <a:off x="5715000" y="1536192"/>
            <a:ext cx="411480" cy="274320"/>
          </a:xfrm>
          <a:prstGeom prst="rightArrow">
            <a:avLst/>
          </a:prstGeom>
          <a:solidFill>
            <a:srgbClr val="E5D5D9"/>
          </a:solidFill>
          <a:ln w="12700">
            <a:solidFill>
              <a:srgbClr val="E5D5D9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29768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Rank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297680" y="25420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scores eligible donors</a:t>
            </a:r>
            <a:endParaRPr lang="en-US" sz="1200" dirty="0"/>
          </a:p>
        </p:txBody>
      </p:sp>
      <p:sp>
        <p:nvSpPr>
          <p:cNvPr id="18" name="Alert icon circle"/>
          <p:cNvSpPr/>
          <p:nvPr/>
        </p:nvSpPr>
        <p:spPr>
          <a:xfrm>
            <a:off x="6675120" y="1280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Aler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658" y="1466698"/>
            <a:ext cx="404165" cy="404165"/>
          </a:xfrm>
          <a:prstGeom prst="rect">
            <a:avLst/>
          </a:prstGeom>
        </p:spPr>
      </p:pic>
      <p:sp>
        <p:nvSpPr>
          <p:cNvPr id="20" name="arrow"/>
          <p:cNvSpPr/>
          <p:nvPr/>
        </p:nvSpPr>
        <p:spPr>
          <a:xfrm>
            <a:off x="7589520" y="1536192"/>
            <a:ext cx="411480" cy="274320"/>
          </a:xfrm>
          <a:prstGeom prst="rightArrow">
            <a:avLst/>
          </a:prstGeom>
          <a:solidFill>
            <a:srgbClr val="E5D5D9"/>
          </a:solidFill>
          <a:ln w="12700">
            <a:solidFill>
              <a:srgbClr val="E5D5D9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17220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Alert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172200" y="25420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batch gets in-app alerts</a:t>
            </a:r>
            <a:endParaRPr lang="en-US" sz="1200" dirty="0"/>
          </a:p>
        </p:txBody>
      </p:sp>
      <p:sp>
        <p:nvSpPr>
          <p:cNvPr id="23" name="Respond icon circle"/>
          <p:cNvSpPr/>
          <p:nvPr/>
        </p:nvSpPr>
        <p:spPr>
          <a:xfrm>
            <a:off x="8549640" y="1280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Respon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6178" y="1466698"/>
            <a:ext cx="404165" cy="404165"/>
          </a:xfrm>
          <a:prstGeom prst="rect">
            <a:avLst/>
          </a:prstGeom>
        </p:spPr>
      </p:pic>
      <p:sp>
        <p:nvSpPr>
          <p:cNvPr id="25" name="arrow"/>
          <p:cNvSpPr/>
          <p:nvPr/>
        </p:nvSpPr>
        <p:spPr>
          <a:xfrm>
            <a:off x="9464040" y="1536192"/>
            <a:ext cx="411480" cy="274320"/>
          </a:xfrm>
          <a:prstGeom prst="rightArrow">
            <a:avLst/>
          </a:prstGeom>
          <a:solidFill>
            <a:srgbClr val="E5D5D9"/>
          </a:solidFill>
          <a:ln w="12700">
            <a:solidFill>
              <a:srgbClr val="E5D5D9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04672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Respond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8046720" y="25420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accept or decline</a:t>
            </a:r>
            <a:endParaRPr lang="en-US" sz="1200" dirty="0"/>
          </a:p>
        </p:txBody>
      </p:sp>
      <p:sp>
        <p:nvSpPr>
          <p:cNvPr id="28" name="Re-evaluate icon circle"/>
          <p:cNvSpPr/>
          <p:nvPr/>
        </p:nvSpPr>
        <p:spPr>
          <a:xfrm>
            <a:off x="10424160" y="12801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Re-evaluate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698" y="1466698"/>
            <a:ext cx="404165" cy="40416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92124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Re-evaluate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9921240" y="25420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Wait, top up or expand the search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800" dirty="0"/>
          </a:p>
        </p:txBody>
      </p:sp>
      <p:sp>
        <p:nvSpPr>
          <p:cNvPr id="33" name="tier Frontend"/>
          <p:cNvSpPr/>
          <p:nvPr/>
        </p:nvSpPr>
        <p:spPr>
          <a:xfrm>
            <a:off x="548640" y="3977640"/>
            <a:ext cx="263347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Frontend icon circle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Frontend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14" y="4292194"/>
            <a:ext cx="285293" cy="285293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160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777240" y="48463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Tailwind CSS, React-Leaflet maps, Recharts</a:t>
            </a:r>
            <a:endParaRPr lang="en-US" sz="1300" dirty="0"/>
          </a:p>
        </p:txBody>
      </p:sp>
      <p:sp>
        <p:nvSpPr>
          <p:cNvPr id="38" name="tier Backend API"/>
          <p:cNvSpPr/>
          <p:nvPr/>
        </p:nvSpPr>
        <p:spPr>
          <a:xfrm>
            <a:off x="3364992" y="3977640"/>
            <a:ext cx="263347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Backend API icon circle"/>
          <p:cNvSpPr/>
          <p:nvPr/>
        </p:nvSpPr>
        <p:spPr>
          <a:xfrm>
            <a:off x="3593592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Backend API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5266" y="4292194"/>
            <a:ext cx="285293" cy="285293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233672" y="4160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3593592" y="48463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Django REST Framework, token authentication, three roles</a:t>
            </a:r>
            <a:endParaRPr lang="en-US" sz="1300" dirty="0"/>
          </a:p>
        </p:txBody>
      </p:sp>
      <p:sp>
        <p:nvSpPr>
          <p:cNvPr id="43" name="tier Escalation engine"/>
          <p:cNvSpPr/>
          <p:nvPr/>
        </p:nvSpPr>
        <p:spPr>
          <a:xfrm>
            <a:off x="6181344" y="3977640"/>
            <a:ext cx="263347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Escalation engine icon circle"/>
          <p:cNvSpPr/>
          <p:nvPr/>
        </p:nvSpPr>
        <p:spPr>
          <a:xfrm>
            <a:off x="6409944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5" name="Escalation engine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1618" y="4292194"/>
            <a:ext cx="285293" cy="285293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050024" y="4160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engine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6409944" y="48463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decision rules, row locks, idempotent updates, simulator</a:t>
            </a:r>
            <a:endParaRPr lang="en-US" sz="1300" dirty="0"/>
          </a:p>
        </p:txBody>
      </p:sp>
      <p:sp>
        <p:nvSpPr>
          <p:cNvPr id="48" name="tier Database"/>
          <p:cNvSpPr/>
          <p:nvPr/>
        </p:nvSpPr>
        <p:spPr>
          <a:xfrm>
            <a:off x="8997696" y="3977640"/>
            <a:ext cx="263347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Database icon circle"/>
          <p:cNvSpPr/>
          <p:nvPr/>
        </p:nvSpPr>
        <p:spPr>
          <a:xfrm>
            <a:off x="9226296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0" name="Database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7970" y="4292194"/>
            <a:ext cx="285293" cy="285293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9866376" y="4160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52" name="Text 40"/>
          <p:cNvSpPr txBox="1"/>
          <p:nvPr/>
        </p:nvSpPr>
        <p:spPr>
          <a:xfrm>
            <a:off x="9226296" y="48463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18 project tables with integrity constraints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engine decides who to alert</a:t>
            </a:r>
            <a:endParaRPr lang="en-US" sz="3000" dirty="0"/>
          </a:p>
        </p:txBody>
      </p:sp>
      <p:graphicFrame>
        <p:nvGraphicFramePr>
          <p:cNvPr id="3" name="Score weights chart" descr=""/>
          <p:cNvGraphicFramePr/>
          <p:nvPr/>
        </p:nvGraphicFramePr>
        <p:xfrm>
          <a:off x="457200" y="118872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stages (cumulative)</a:t>
            </a:r>
            <a:endParaRPr lang="en-US" sz="1600" dirty="0"/>
          </a:p>
        </p:txBody>
      </p:sp>
      <p:sp>
        <p:nvSpPr>
          <p:cNvPr id="5" name="stage 1"/>
          <p:cNvSpPr/>
          <p:nvPr/>
        </p:nvSpPr>
        <p:spPr>
          <a:xfrm>
            <a:off x="4572000" y="1691640"/>
            <a:ext cx="356616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0" y="16916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166360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area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16916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km</a:t>
            </a:r>
            <a:endParaRPr lang="en-US" sz="1400" dirty="0"/>
          </a:p>
        </p:txBody>
      </p:sp>
      <p:sp>
        <p:nvSpPr>
          <p:cNvPr id="9" name="stage 2"/>
          <p:cNvSpPr/>
          <p:nvPr/>
        </p:nvSpPr>
        <p:spPr>
          <a:xfrm>
            <a:off x="4572000" y="2514600"/>
            <a:ext cx="35661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25146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2514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localities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2514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km</a:t>
            </a:r>
            <a:endParaRPr lang="en-US" sz="1400" dirty="0"/>
          </a:p>
        </p:txBody>
      </p:sp>
      <p:sp>
        <p:nvSpPr>
          <p:cNvPr id="13" name="stage 3"/>
          <p:cNvSpPr/>
          <p:nvPr/>
        </p:nvSpPr>
        <p:spPr>
          <a:xfrm>
            <a:off x="4572000" y="3337560"/>
            <a:ext cx="35661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33375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166360" y="3337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Chennai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33375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km</a:t>
            </a:r>
            <a:endParaRPr lang="en-US" sz="1400" dirty="0"/>
          </a:p>
        </p:txBody>
      </p:sp>
      <p:sp>
        <p:nvSpPr>
          <p:cNvPr id="17" name="stage 4"/>
          <p:cNvSpPr/>
          <p:nvPr/>
        </p:nvSpPr>
        <p:spPr>
          <a:xfrm>
            <a:off x="4572000" y="4160520"/>
            <a:ext cx="35661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41605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166360" y="4160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metro area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41605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to the next stage only when the current one has no eligible donors left.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1234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1691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1993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× 2 volunteers  (2 units → 4)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503920" y="2514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503920" y="28163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− accepted volunteers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337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3639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 / 45 min by urgency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503920" y="41605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503920" y="44622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cancel, expiry or need met</a:t>
            </a:r>
            <a:endParaRPr lang="en-US" sz="1300" dirty="0"/>
          </a:p>
        </p:txBody>
      </p:sp>
      <p:sp>
        <p:nvSpPr>
          <p:cNvPr id="31" name="safety note"/>
          <p:cNvSpPr/>
          <p:nvPr/>
        </p:nvSpPr>
        <p:spPr>
          <a:xfrm>
            <a:off x="548640" y="5577840"/>
            <a:ext cx="111099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5577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means a volunteer said yes, not a confirmed donation. No response means status unknown, not declined. Final suitability is always confirmed by the blood bank.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Working prototype</a:t>
            </a:r>
            <a:endParaRPr lang="en-US" sz="3000" dirty="0"/>
          </a:p>
        </p:txBody>
      </p:sp>
      <p:sp>
        <p:nvSpPr>
          <p:cNvPr id="3" name="Requester: submit emergency request frame"/>
          <p:cNvSpPr/>
          <p:nvPr/>
        </p:nvSpPr>
        <p:spPr>
          <a:xfrm>
            <a:off x="548640" y="11430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Requester: submit emergency request" descr="/home/claude/deck/img/req_create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97864"/>
            <a:ext cx="5285232" cy="21305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429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Requester: submit emergency request</a:t>
            </a:r>
            <a:endParaRPr lang="en-US" sz="1200" dirty="0"/>
          </a:p>
        </p:txBody>
      </p:sp>
      <p:sp>
        <p:nvSpPr>
          <p:cNvPr id="6" name="Donor: alerts and availability frame"/>
          <p:cNvSpPr/>
          <p:nvPr/>
        </p:nvSpPr>
        <p:spPr>
          <a:xfrm>
            <a:off x="6263640" y="11430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onor: alerts and availability" descr="/home/claude/deck/img/donor_dash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1197864"/>
            <a:ext cx="5285232" cy="21305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63640" y="3429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Donor: alerts and availability</a:t>
            </a:r>
            <a:endParaRPr lang="en-US" sz="1200" dirty="0"/>
          </a:p>
        </p:txBody>
      </p:sp>
      <p:sp>
        <p:nvSpPr>
          <p:cNvPr id="9" name="Admin: Emergency Command Center frame"/>
          <p:cNvSpPr/>
          <p:nvPr/>
        </p:nvSpPr>
        <p:spPr>
          <a:xfrm>
            <a:off x="548640" y="379476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Admin: Emergency Command Center" descr="/home/claude/deck/img/cmd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849624"/>
            <a:ext cx="5285232" cy="213055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6080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Emergency Command Center</a:t>
            </a:r>
            <a:endParaRPr lang="en-US" sz="1200" dirty="0"/>
          </a:p>
        </p:txBody>
      </p:sp>
      <p:sp>
        <p:nvSpPr>
          <p:cNvPr id="12" name="Admin: Emergency simulator (fictional donors) frame"/>
          <p:cNvSpPr/>
          <p:nvPr/>
        </p:nvSpPr>
        <p:spPr>
          <a:xfrm>
            <a:off x="6263640" y="379476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Admin: Emergency simulator (fictional donors)" descr="/home/claude/deck/img/sim_run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3849624"/>
            <a:ext cx="5285232" cy="213055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263640" y="6080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Emergency simulator (fictional donors)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Testing and results</a:t>
            </a:r>
            <a:endParaRPr lang="en-US" sz="3000" dirty="0"/>
          </a:p>
        </p:txBody>
      </p:sp>
      <p:sp>
        <p:nvSpPr>
          <p:cNvPr id="3" name="tests card"/>
          <p:cNvSpPr/>
          <p:nvPr/>
        </p:nvSpPr>
        <p:spPr>
          <a:xfrm>
            <a:off x="548640" y="1188720"/>
            <a:ext cx="310896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/ 116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backend tests passed: decision rules, engine, API, simulator and parallel-thread concurrency</a:t>
            </a:r>
            <a:endParaRPr lang="en-US" sz="1300" dirty="0"/>
          </a:p>
        </p:txBody>
      </p:sp>
      <p:sp>
        <p:nvSpPr>
          <p:cNvPr id="6" name="result card"/>
          <p:cNvSpPr/>
          <p:nvPr/>
        </p:nvSpPr>
        <p:spPr>
          <a:xfrm>
            <a:off x="548640" y="3749040"/>
            <a:ext cx="3108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886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≈75%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63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donors alerted than broadcast in the high-response scenario (10.4 vs 41.6), but slower to reach the target (11 vs 3.6 min). A trade-off, not a win on every axis.</a:t>
            </a:r>
            <a:endParaRPr lang="en-US" sz="1300" dirty="0"/>
          </a:p>
        </p:txBody>
      </p:sp>
      <p:graphicFrame>
        <p:nvGraphicFramePr>
          <p:cNvPr id="9" name="Donors contacted chart" descr=""/>
          <p:cNvGraphicFramePr/>
          <p:nvPr/>
        </p:nvGraphicFramePr>
        <p:xfrm>
          <a:off x="3886200" y="1188720"/>
          <a:ext cx="3886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ime to target chart" descr=""/>
          <p:cNvGraphicFramePr/>
          <p:nvPr/>
        </p:nvGraphicFramePr>
        <p:xfrm>
          <a:off x="7772400" y="1188720"/>
          <a:ext cx="3886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886200" y="5577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scenarios × 3 strategies × 5 seeded runs, using scripted fictional donors. Not measured hospital performance or real donation outcomes.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Bill of materials and expected benefits</a:t>
            </a:r>
            <a:endParaRPr lang="en-US" sz="3000" dirty="0"/>
          </a:p>
        </p:txBody>
      </p:sp>
      <p:sp>
        <p:nvSpPr>
          <p:cNvPr id="3" name="BOM card"/>
          <p:cNvSpPr/>
          <p:nvPr/>
        </p:nvSpPr>
        <p:spPr>
          <a:xfrm>
            <a:off x="548640" y="1188720"/>
            <a:ext cx="5394960" cy="50292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laptop and internet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585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 and GitHub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258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340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Vite, Tailwind (open source)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7340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095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Django, DRF, SQLite (open source)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2095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85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prototype / free-tier hosting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685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cloud hosting (optional)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₹600–1,500 / month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36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(optional)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4636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₹800–1,500 / year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114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e-mail gateway (future)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5111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Extra, per message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669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costs ₹0; costs are estimates for an optional deployment.</a:t>
            </a:r>
            <a:endParaRPr lang="en-US" sz="1200" dirty="0"/>
          </a:p>
        </p:txBody>
      </p:sp>
      <p:sp>
        <p:nvSpPr>
          <p:cNvPr id="22" name="Faster donor discovery icon circle"/>
          <p:cNvSpPr/>
          <p:nvPr/>
        </p:nvSpPr>
        <p:spPr>
          <a:xfrm>
            <a:off x="6355080" y="12344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Faster donor discover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1399032"/>
            <a:ext cx="356616" cy="35661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223760" y="12161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donor discovery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16002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suitable donors are alerted first.</a:t>
            </a:r>
            <a:endParaRPr lang="en-US" sz="1400" dirty="0"/>
          </a:p>
        </p:txBody>
      </p:sp>
      <p:sp>
        <p:nvSpPr>
          <p:cNvPr id="26" name="Less alert fatigue icon circle"/>
          <p:cNvSpPr/>
          <p:nvPr/>
        </p:nvSpPr>
        <p:spPr>
          <a:xfrm>
            <a:off x="6355080" y="248716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Less alert fatigu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651760"/>
            <a:ext cx="356616" cy="35661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223760" y="24688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alert fatigue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7223760" y="28529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are not spammed once the need is met.</a:t>
            </a:r>
            <a:endParaRPr lang="en-US" sz="1400" dirty="0"/>
          </a:p>
        </p:txBody>
      </p:sp>
      <p:sp>
        <p:nvSpPr>
          <p:cNvPr id="30" name="Clear visibility icon circle"/>
          <p:cNvSpPr/>
          <p:nvPr/>
        </p:nvSpPr>
        <p:spPr>
          <a:xfrm>
            <a:off x="6355080" y="373989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Clear visibilit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3904488"/>
            <a:ext cx="356616" cy="35661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23760" y="37216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visibility</a:t>
            </a:r>
            <a:endParaRPr lang="en-US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7223760" y="410565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remaining need and blood-bank stock.</a:t>
            </a:r>
            <a:endParaRPr lang="en-US" sz="1400" dirty="0"/>
          </a:p>
        </p:txBody>
      </p:sp>
      <p:sp>
        <p:nvSpPr>
          <p:cNvPr id="34" name="Accountability icon circle"/>
          <p:cNvSpPr/>
          <p:nvPr/>
        </p:nvSpPr>
        <p:spPr>
          <a:xfrm>
            <a:off x="6355080" y="499262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Accountabilit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5157216"/>
            <a:ext cx="356616" cy="356616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223760" y="497433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700" dirty="0"/>
          </a:p>
        </p:txBody>
      </p:sp>
      <p:sp>
        <p:nvSpPr>
          <p:cNvPr id="37" name="Text 31"/>
          <p:cNvSpPr txBox="1"/>
          <p:nvPr/>
        </p:nvSpPr>
        <p:spPr>
          <a:xfrm>
            <a:off x="7223760" y="53583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and decision has a recorded reason.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A clearer emergency workflow.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BloodConnect 2.0 turns one-shot alerting into a followed-up, explainable process: verified requests, ranked donors, staged outreach and a live view of the remaining need. It is a coordination aid; clinical suitability stays with the blood bank.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gateway with delivery receipts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hospital and blood-bank stock systems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donors with push notifications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and PostgreSQL deployment</a:t>
            </a:r>
            <a:endParaRPr lang="en-US" sz="1500" dirty="0"/>
          </a:p>
        </p:txBody>
      </p:sp>
      <p:sp>
        <p:nvSpPr>
          <p:cNvPr id="7" name="Laptop frame"/>
          <p:cNvSpPr/>
          <p:nvPr/>
        </p:nvSpPr>
        <p:spPr>
          <a:xfrm>
            <a:off x="7680960" y="822960"/>
            <a:ext cx="39776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E5D5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Laptop" descr="/home/claude/deck/img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877824"/>
            <a:ext cx="3867912" cy="3867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80960" y="50292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5669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matters. Every connection counts.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odConnect">
  <a:themeElements>
    <a:clrScheme name="BloodConnect">
      <a:dk1>
        <a:srgbClr val="1F1416"/>
      </a:dk1>
      <a:lt1>
        <a:srgbClr val="FFFFFF"/>
      </a:lt1>
      <a:dk2>
        <a:srgbClr val="2A1215"/>
      </a:dk2>
      <a:lt2>
        <a:srgbClr val="FBEEF0"/>
      </a:lt2>
      <a:accent1>
        <a:srgbClr val="A3172F"/>
      </a:accent1>
      <a:accent2>
        <a:srgbClr val="1F2D4F"/>
      </a:accent2>
      <a:accent3>
        <a:srgbClr val="D9566B"/>
      </a:accent3>
      <a:accent4>
        <a:srgbClr val="6B7280"/>
      </a:accent4>
      <a:accent5>
        <a:srgbClr val="2E7D5B"/>
      </a:accent5>
      <a:accent6>
        <a:srgbClr val="F3D3D9"/>
      </a:accent6>
      <a:hlink>
        <a:srgbClr val="A3172F"/>
      </a:hlink>
      <a:folHlink>
        <a:srgbClr val="6B7280"/>
      </a:folHlink>
    </a:clrScheme>
    <a:fontScheme name="BloodConnec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BloodConnect 2.0</dc:title>
  <dc:subject>PptxGenJS Presentation</dc:subject>
  <dc:creator>Team BloodConnect</dc:creator>
  <cp:lastModifiedBy>Team BloodConnect</cp:lastModifiedBy>
  <cp:revision>1</cp:revision>
  <dcterms:created xsi:type="dcterms:W3CDTF">2026-10-29T14:52:26Z</dcterms:created>
  <dcterms:modified xsi:type="dcterms:W3CDTF">2026-10-29T14:52:26Z</dcterms:modified>
</cp:coreProperties>
</file>